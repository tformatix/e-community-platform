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550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50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9801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726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536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777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4023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504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998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30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216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A2C29F9-8EC4-4A28-94D0-1519FBED630A}" type="datetimeFigureOut">
              <a:rPr lang="de-AT" smtClean="0"/>
              <a:t>06.12.2022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931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8974-6DA3-5C17-12E6-6A8E749AC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AT" sz="6600" dirty="0"/>
              <a:t>Thema Bachelorarbeit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1D43D-9FF3-0A89-3D9B-FD41049306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Tobias Fischer</a:t>
            </a:r>
          </a:p>
        </p:txBody>
      </p:sp>
    </p:spTree>
    <p:extLst>
      <p:ext uri="{BB962C8B-B14F-4D97-AF65-F5344CB8AC3E}">
        <p14:creationId xmlns:p14="http://schemas.microsoft.com/office/powerpoint/2010/main" val="332921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5C98-5E82-A0C1-0839-0283D964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Komplexität des alten Themas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2E549-86D2-8BB3-4F20-BE3BC775A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AT" dirty="0"/>
              <a:t>Komplexität der Simulation</a:t>
            </a:r>
          </a:p>
          <a:p>
            <a:pPr lvl="1"/>
            <a:r>
              <a:rPr lang="de-AT" dirty="0"/>
              <a:t>SG-Ready Simulation nicht vorhanden</a:t>
            </a:r>
          </a:p>
          <a:p>
            <a:pPr lvl="1"/>
            <a:r>
              <a:rPr lang="de-AT" dirty="0"/>
              <a:t>Verknüpfung der relevanten Daten mit bereits vorhandener Simulation</a:t>
            </a:r>
          </a:p>
          <a:p>
            <a:r>
              <a:rPr lang="de-AT" dirty="0"/>
              <a:t>verschiedene Optimierungsmöglichkeiten</a:t>
            </a:r>
          </a:p>
          <a:p>
            <a:pPr lvl="1"/>
            <a:r>
              <a:rPr lang="de-AT" dirty="0"/>
              <a:t>Eigenheim</a:t>
            </a:r>
          </a:p>
          <a:p>
            <a:pPr lvl="1"/>
            <a:r>
              <a:rPr lang="de-AT" dirty="0"/>
              <a:t>Energiegemeinschaft</a:t>
            </a:r>
          </a:p>
          <a:p>
            <a:pPr lvl="1"/>
            <a:r>
              <a:rPr lang="de-AT" dirty="0"/>
              <a:t>Einspeisung</a:t>
            </a:r>
          </a:p>
          <a:p>
            <a:r>
              <a:rPr lang="de-AT" dirty="0"/>
              <a:t>Vorhersagen treffen</a:t>
            </a:r>
          </a:p>
          <a:p>
            <a:r>
              <a:rPr lang="de-AT" dirty="0"/>
              <a:t>sinnvolle Entscheidungen treffen</a:t>
            </a:r>
          </a:p>
          <a:p>
            <a:pPr lvl="1"/>
            <a:r>
              <a:rPr lang="de-AT" dirty="0"/>
              <a:t>Kombination der vielen Faktoren</a:t>
            </a:r>
          </a:p>
          <a:p>
            <a:r>
              <a:rPr lang="de-AT" dirty="0"/>
              <a:t>Wärmepumpen/Eigenheime sind </a:t>
            </a:r>
          </a:p>
          <a:p>
            <a:pPr lvl="1"/>
            <a:r>
              <a:rPr lang="de-AT" dirty="0"/>
              <a:t>unterschiedlich</a:t>
            </a:r>
          </a:p>
          <a:p>
            <a:pPr lvl="1"/>
            <a:r>
              <a:rPr lang="de-AT" dirty="0"/>
              <a:t>komplex</a:t>
            </a:r>
          </a:p>
          <a:p>
            <a:pPr lvl="1"/>
            <a:r>
              <a:rPr lang="de-AT" dirty="0"/>
              <a:t>schwer zum Testen</a:t>
            </a:r>
          </a:p>
        </p:txBody>
      </p:sp>
    </p:spTree>
    <p:extLst>
      <p:ext uri="{BB962C8B-B14F-4D97-AF65-F5344CB8AC3E}">
        <p14:creationId xmlns:p14="http://schemas.microsoft.com/office/powerpoint/2010/main" val="911947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7085-AC0B-692A-D730-BF9625AA2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Neues Thema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855FF-CC0F-6E1E-646A-CF560A45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/>
              <a:t>Optimierte dynamische Energie-Aufteilung in Energiegemeinschaften</a:t>
            </a:r>
          </a:p>
          <a:p>
            <a:r>
              <a:rPr lang="de-AT" dirty="0"/>
              <a:t>Benutzer erhält jede Stunde Zuspruch von Energie</a:t>
            </a:r>
          </a:p>
          <a:p>
            <a:pPr lvl="1"/>
            <a:r>
              <a:rPr lang="de-AT" dirty="0"/>
              <a:t>anhand von Lastprofil in Kombination mit einer Flexibilität</a:t>
            </a:r>
          </a:p>
          <a:p>
            <a:pPr lvl="2"/>
            <a:r>
              <a:rPr lang="de-AT" dirty="0"/>
              <a:t>durch intelligentes System (Black Box)</a:t>
            </a:r>
          </a:p>
          <a:p>
            <a:pPr lvl="2"/>
            <a:r>
              <a:rPr lang="de-AT" dirty="0"/>
              <a:t>Lastprofil</a:t>
            </a:r>
          </a:p>
          <a:p>
            <a:pPr lvl="3"/>
            <a:r>
              <a:rPr lang="de-AT" dirty="0"/>
              <a:t>Wie viel Energie wird benötigt?</a:t>
            </a:r>
          </a:p>
          <a:p>
            <a:pPr lvl="2"/>
            <a:r>
              <a:rPr lang="de-AT" dirty="0"/>
              <a:t>Flexibilität</a:t>
            </a:r>
          </a:p>
          <a:p>
            <a:pPr lvl="3"/>
            <a:r>
              <a:rPr lang="de-AT" dirty="0"/>
              <a:t>Auf </a:t>
            </a:r>
            <a:r>
              <a:rPr lang="de-DE" dirty="0"/>
              <a:t>wie viel Energie könnte ich verzichten?</a:t>
            </a:r>
          </a:p>
          <a:p>
            <a:pPr lvl="3"/>
            <a:r>
              <a:rPr lang="de-DE" dirty="0"/>
              <a:t>Wie viel Energie könnte ich zusätzlich konsumieren?</a:t>
            </a:r>
            <a:endParaRPr lang="de-AT" dirty="0"/>
          </a:p>
          <a:p>
            <a:r>
              <a:rPr lang="de-AT" dirty="0"/>
              <a:t>Bestätigung, ob zugesprochene Energie verbraucht werden kann</a:t>
            </a:r>
          </a:p>
          <a:p>
            <a:pPr lvl="2"/>
            <a:r>
              <a:rPr lang="de-AT" dirty="0"/>
              <a:t>durch App (Visualisierung mittels Charts)</a:t>
            </a:r>
          </a:p>
          <a:p>
            <a:pPr lvl="2"/>
            <a:r>
              <a:rPr lang="de-AT" dirty="0"/>
              <a:t>Smart Home Gerät</a:t>
            </a:r>
          </a:p>
          <a:p>
            <a:pPr lvl="2"/>
            <a:r>
              <a:rPr lang="de-AT" dirty="0"/>
              <a:t>Falls nein: anders aufteilen</a:t>
            </a:r>
          </a:p>
        </p:txBody>
      </p:sp>
    </p:spTree>
    <p:extLst>
      <p:ext uri="{BB962C8B-B14F-4D97-AF65-F5344CB8AC3E}">
        <p14:creationId xmlns:p14="http://schemas.microsoft.com/office/powerpoint/2010/main" val="44865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46E5-5EEA-0435-A989-903CE7BA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Neues Thema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1E4B0-5AF0-5B6D-F6CE-981A93D28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Schritte</a:t>
            </a:r>
          </a:p>
          <a:p>
            <a:pPr lvl="1"/>
            <a:r>
              <a:rPr lang="de-AT" dirty="0"/>
              <a:t>Aufteilung</a:t>
            </a:r>
          </a:p>
          <a:p>
            <a:pPr lvl="2"/>
            <a:r>
              <a:rPr lang="de-AT" dirty="0"/>
              <a:t>auf dynamische Aufteilung fokussieren </a:t>
            </a:r>
            <a:r>
              <a:rPr lang="de-AT" dirty="0">
                <a:sym typeface="Wingdings" panose="05000000000000000000" pitchFamily="2" charset="2"/>
              </a:rPr>
              <a:t> mehr Optimierungsmöglichkeiten</a:t>
            </a:r>
            <a:endParaRPr lang="de-AT" dirty="0"/>
          </a:p>
          <a:p>
            <a:pPr lvl="1"/>
            <a:r>
              <a:rPr lang="de-AT" dirty="0"/>
              <a:t>Lastprofil (aus Vorwoche)</a:t>
            </a:r>
          </a:p>
          <a:p>
            <a:pPr lvl="2"/>
            <a:r>
              <a:rPr lang="de-AT" dirty="0"/>
              <a:t>Auch als Ersatzwerte bei fehlenden Daten</a:t>
            </a:r>
          </a:p>
          <a:p>
            <a:pPr lvl="1"/>
            <a:r>
              <a:rPr lang="de-AT" dirty="0"/>
              <a:t>Flexibilität durch vernünftige Random-Werte</a:t>
            </a:r>
          </a:p>
          <a:p>
            <a:r>
              <a:rPr lang="de-AT" dirty="0"/>
              <a:t>Wärmepumpe = variabler Verbraucher</a:t>
            </a:r>
          </a:p>
          <a:p>
            <a:pPr lvl="1"/>
            <a:r>
              <a:rPr lang="de-AT" dirty="0"/>
              <a:t>kann gut durch Smart Home Gerät dynamisch Strom verbrauchen</a:t>
            </a:r>
          </a:p>
        </p:txBody>
      </p:sp>
    </p:spTree>
    <p:extLst>
      <p:ext uri="{BB962C8B-B14F-4D97-AF65-F5344CB8AC3E}">
        <p14:creationId xmlns:p14="http://schemas.microsoft.com/office/powerpoint/2010/main" val="80960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35FD99-BAF3-106D-2FF9-20D83FC38DCC}"/>
              </a:ext>
            </a:extLst>
          </p:cNvPr>
          <p:cNvSpPr/>
          <p:nvPr/>
        </p:nvSpPr>
        <p:spPr>
          <a:xfrm>
            <a:off x="2865408" y="3209025"/>
            <a:ext cx="1457864" cy="439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Erzeugung</a:t>
            </a:r>
          </a:p>
        </p:txBody>
      </p:sp>
      <p:sp>
        <p:nvSpPr>
          <p:cNvPr id="33" name="Action Button: Go Home 3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C1E6FB1-28F7-6093-CFD6-2F865EE68F6A}"/>
              </a:ext>
            </a:extLst>
          </p:cNvPr>
          <p:cNvSpPr/>
          <p:nvPr/>
        </p:nvSpPr>
        <p:spPr>
          <a:xfrm>
            <a:off x="9138969" y="2700265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908064-D474-72EB-8981-EBA728584E47}"/>
              </a:ext>
            </a:extLst>
          </p:cNvPr>
          <p:cNvSpPr/>
          <p:nvPr/>
        </p:nvSpPr>
        <p:spPr>
          <a:xfrm>
            <a:off x="7868728" y="2700265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2C2A86-B145-B24B-0092-3AE3DD65A56C}"/>
              </a:ext>
            </a:extLst>
          </p:cNvPr>
          <p:cNvSpPr/>
          <p:nvPr/>
        </p:nvSpPr>
        <p:spPr>
          <a:xfrm>
            <a:off x="5367068" y="1035170"/>
            <a:ext cx="1457864" cy="4787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Aufteilung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BE4818-AFE6-65E0-D999-9B38A5DD8752}"/>
              </a:ext>
            </a:extLst>
          </p:cNvPr>
          <p:cNvSpPr/>
          <p:nvPr/>
        </p:nvSpPr>
        <p:spPr>
          <a:xfrm>
            <a:off x="7868728" y="2957615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2755BD-B438-B72F-C379-0AC356E3532C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4323272" y="3428999"/>
            <a:ext cx="10437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BD545F-1FA3-7133-C693-98E09353068D}"/>
              </a:ext>
            </a:extLst>
          </p:cNvPr>
          <p:cNvSpPr txBox="1"/>
          <p:nvPr/>
        </p:nvSpPr>
        <p:spPr>
          <a:xfrm>
            <a:off x="4501192" y="3198327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12 kWh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9F18937-2099-252D-95A2-39B1DDA1B51C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6824932" y="2807378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290F9B0-5AAB-1512-50A6-50F3B8800D47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6824932" y="3064728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0EA850-A3E8-DB43-D847-BB0BBBD98E5E}"/>
              </a:ext>
            </a:extLst>
          </p:cNvPr>
          <p:cNvSpPr txBox="1"/>
          <p:nvPr/>
        </p:nvSpPr>
        <p:spPr>
          <a:xfrm>
            <a:off x="7002852" y="2543639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 kWh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6CF6AD-89EC-7A12-0D36-276912BBB9E5}"/>
              </a:ext>
            </a:extLst>
          </p:cNvPr>
          <p:cNvSpPr txBox="1"/>
          <p:nvPr/>
        </p:nvSpPr>
        <p:spPr>
          <a:xfrm>
            <a:off x="7002851" y="3084162"/>
            <a:ext cx="7961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0,8 kWh</a:t>
            </a:r>
          </a:p>
        </p:txBody>
      </p:sp>
      <p:sp>
        <p:nvSpPr>
          <p:cNvPr id="72" name="Action Button: Go Home 7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644A587-C958-8C74-F397-857D995DDAF9}"/>
              </a:ext>
            </a:extLst>
          </p:cNvPr>
          <p:cNvSpPr/>
          <p:nvPr/>
        </p:nvSpPr>
        <p:spPr>
          <a:xfrm>
            <a:off x="9138969" y="1501424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498A6CB-74C1-81A3-72FC-9F4FF0C9AAC4}"/>
              </a:ext>
            </a:extLst>
          </p:cNvPr>
          <p:cNvSpPr/>
          <p:nvPr/>
        </p:nvSpPr>
        <p:spPr>
          <a:xfrm>
            <a:off x="7868728" y="1501424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DD4034-E253-E8C3-224E-B41265103ABC}"/>
              </a:ext>
            </a:extLst>
          </p:cNvPr>
          <p:cNvSpPr/>
          <p:nvPr/>
        </p:nvSpPr>
        <p:spPr>
          <a:xfrm>
            <a:off x="7868728" y="1758774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F674E78-8E82-58D9-85D1-971EF7FA21FE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6824932" y="1608537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A548A45-5676-BAB1-48B4-EDFE0F0461D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6824932" y="1865887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9FB075-4236-3AAA-91A9-22C55E1625B0}"/>
              </a:ext>
            </a:extLst>
          </p:cNvPr>
          <p:cNvSpPr txBox="1"/>
          <p:nvPr/>
        </p:nvSpPr>
        <p:spPr>
          <a:xfrm>
            <a:off x="7002852" y="1344798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 Wh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1E3527-3D92-B3FF-250D-E13B924B6723}"/>
              </a:ext>
            </a:extLst>
          </p:cNvPr>
          <p:cNvSpPr txBox="1"/>
          <p:nvPr/>
        </p:nvSpPr>
        <p:spPr>
          <a:xfrm>
            <a:off x="7002852" y="1885321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 Wh</a:t>
            </a:r>
          </a:p>
        </p:txBody>
      </p:sp>
      <p:sp>
        <p:nvSpPr>
          <p:cNvPr id="79" name="Action Button: Go Home 7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B2368-B75C-B8BD-EA8F-5B8D53CC28EF}"/>
              </a:ext>
            </a:extLst>
          </p:cNvPr>
          <p:cNvSpPr/>
          <p:nvPr/>
        </p:nvSpPr>
        <p:spPr>
          <a:xfrm>
            <a:off x="9138969" y="5041627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951441A-301E-88B4-681F-DC0DD1B972C8}"/>
              </a:ext>
            </a:extLst>
          </p:cNvPr>
          <p:cNvSpPr/>
          <p:nvPr/>
        </p:nvSpPr>
        <p:spPr>
          <a:xfrm>
            <a:off x="7868728" y="5041627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2BFCF81-F2AA-9A20-E256-2EE9C53776BF}"/>
              </a:ext>
            </a:extLst>
          </p:cNvPr>
          <p:cNvSpPr/>
          <p:nvPr/>
        </p:nvSpPr>
        <p:spPr>
          <a:xfrm>
            <a:off x="7868728" y="5298977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04770D8-B3BE-BA35-1016-A781B1E24D0C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6824932" y="5148740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66A993C-74B5-E090-936B-5A000D4443F4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6824932" y="5406090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7BFF66B-A2F0-A58B-D916-B440B75AF367}"/>
              </a:ext>
            </a:extLst>
          </p:cNvPr>
          <p:cNvSpPr txBox="1"/>
          <p:nvPr/>
        </p:nvSpPr>
        <p:spPr>
          <a:xfrm>
            <a:off x="7002852" y="4885001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12 kWh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2E27EA-5D1E-4E85-244D-720D5BB0521C}"/>
              </a:ext>
            </a:extLst>
          </p:cNvPr>
          <p:cNvSpPr txBox="1"/>
          <p:nvPr/>
        </p:nvSpPr>
        <p:spPr>
          <a:xfrm>
            <a:off x="7002852" y="5425524"/>
            <a:ext cx="796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9,6 kWh</a:t>
            </a:r>
          </a:p>
        </p:txBody>
      </p:sp>
      <p:sp>
        <p:nvSpPr>
          <p:cNvPr id="86" name="Action Button: Go Home 8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48A2817-56CB-9486-69EE-666E9C02B157}"/>
              </a:ext>
            </a:extLst>
          </p:cNvPr>
          <p:cNvSpPr/>
          <p:nvPr/>
        </p:nvSpPr>
        <p:spPr>
          <a:xfrm>
            <a:off x="9138969" y="3907686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1C71775-9BBE-1D1C-6688-37A17DB2B0B4}"/>
              </a:ext>
            </a:extLst>
          </p:cNvPr>
          <p:cNvSpPr/>
          <p:nvPr/>
        </p:nvSpPr>
        <p:spPr>
          <a:xfrm>
            <a:off x="7868728" y="3907686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D4FA893-2E0C-15E1-4AEF-3F29344B23FC}"/>
              </a:ext>
            </a:extLst>
          </p:cNvPr>
          <p:cNvSpPr/>
          <p:nvPr/>
        </p:nvSpPr>
        <p:spPr>
          <a:xfrm>
            <a:off x="7868728" y="4165036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8817E28-27F5-AE9D-BBF0-C19DC94656F7}"/>
              </a:ext>
            </a:extLst>
          </p:cNvPr>
          <p:cNvCxnSpPr>
            <a:cxnSpLocks/>
            <a:stCxn id="87" idx="1"/>
          </p:cNvCxnSpPr>
          <p:nvPr/>
        </p:nvCxnSpPr>
        <p:spPr>
          <a:xfrm flipH="1">
            <a:off x="6824932" y="4014799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A9AA5C-1953-6714-2231-7ED5E2CABEC8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6824932" y="4272149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B2446F3-61D7-7815-1E3D-D6661E650D2D}"/>
              </a:ext>
            </a:extLst>
          </p:cNvPr>
          <p:cNvSpPr txBox="1"/>
          <p:nvPr/>
        </p:nvSpPr>
        <p:spPr>
          <a:xfrm>
            <a:off x="7002852" y="3751060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2 kWh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7D571E-E155-BD09-7035-DDAD64967D69}"/>
              </a:ext>
            </a:extLst>
          </p:cNvPr>
          <p:cNvSpPr txBox="1"/>
          <p:nvPr/>
        </p:nvSpPr>
        <p:spPr>
          <a:xfrm>
            <a:off x="7002852" y="4291583"/>
            <a:ext cx="796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1,6 kWh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D44F2D-F049-7EA8-CB47-FBDDFCC73B0E}"/>
              </a:ext>
            </a:extLst>
          </p:cNvPr>
          <p:cNvSpPr txBox="1"/>
          <p:nvPr/>
        </p:nvSpPr>
        <p:spPr>
          <a:xfrm>
            <a:off x="9841300" y="1555236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389586-EFA2-565E-677B-B61F533A74E0}"/>
              </a:ext>
            </a:extLst>
          </p:cNvPr>
          <p:cNvSpPr txBox="1"/>
          <p:nvPr/>
        </p:nvSpPr>
        <p:spPr>
          <a:xfrm>
            <a:off x="9819016" y="2750669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FADA3E5-9928-450E-EF40-439BEF253C90}"/>
              </a:ext>
            </a:extLst>
          </p:cNvPr>
          <p:cNvSpPr txBox="1"/>
          <p:nvPr/>
        </p:nvSpPr>
        <p:spPr>
          <a:xfrm>
            <a:off x="9841300" y="3958090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F0CF3F8-EF42-680C-4E30-CD235BE30C26}"/>
              </a:ext>
            </a:extLst>
          </p:cNvPr>
          <p:cNvSpPr txBox="1"/>
          <p:nvPr/>
        </p:nvSpPr>
        <p:spPr>
          <a:xfrm>
            <a:off x="9841300" y="5074637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492F9-BF65-4584-13C3-4EAC1DF4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48" y="238666"/>
            <a:ext cx="9692640" cy="560062"/>
          </a:xfrm>
        </p:spPr>
        <p:txBody>
          <a:bodyPr>
            <a:normAutofit fontScale="90000"/>
          </a:bodyPr>
          <a:lstStyle/>
          <a:p>
            <a:r>
              <a:rPr lang="de-AT" sz="3600" dirty="0"/>
              <a:t>Aufteilung exkl. Flexibilität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FC52C0-14A8-CCDB-82B6-0D5B7E6D78A8}"/>
                  </a:ext>
                </a:extLst>
              </p:cNvPr>
              <p:cNvSpPr txBox="1"/>
              <p:nvPr/>
            </p:nvSpPr>
            <p:spPr>
              <a:xfrm>
                <a:off x="383531" y="4032829"/>
                <a:ext cx="3320681" cy="2722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𝐺𝑒𝑠𝑎𝑚𝑡𝑙𝑎𝑠𝑡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=15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𝐸𝑟𝑧𝑒𝑢𝑔𝑢𝑛𝑔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=12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𝐸𝑟𝑧𝑒𝑢𝑔𝑢𝑛𝑔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𝐿𝑎𝑠𝑡</m:t>
                          </m:r>
                          <m:sSub>
                            <m:sSubPr>
                              <m:ctrlPr>
                                <a:rPr lang="de-AT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sz="11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AT" sz="11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e-AT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𝐺𝑒𝑠𝑎𝑚𝑡𝑙𝑎𝑠𝑡</m:t>
                          </m:r>
                        </m:den>
                      </m:f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12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=0,8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12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=1,6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12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=9,6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FC52C0-14A8-CCDB-82B6-0D5B7E6D7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31" y="4032829"/>
                <a:ext cx="3320681" cy="27224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310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35FD99-BAF3-106D-2FF9-20D83FC38DCC}"/>
              </a:ext>
            </a:extLst>
          </p:cNvPr>
          <p:cNvSpPr/>
          <p:nvPr/>
        </p:nvSpPr>
        <p:spPr>
          <a:xfrm>
            <a:off x="2865408" y="3209025"/>
            <a:ext cx="1457864" cy="439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Erzeugung</a:t>
            </a:r>
          </a:p>
        </p:txBody>
      </p:sp>
      <p:sp>
        <p:nvSpPr>
          <p:cNvPr id="33" name="Action Button: Go Home 3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C1E6FB1-28F7-6093-CFD6-2F865EE68F6A}"/>
              </a:ext>
            </a:extLst>
          </p:cNvPr>
          <p:cNvSpPr/>
          <p:nvPr/>
        </p:nvSpPr>
        <p:spPr>
          <a:xfrm>
            <a:off x="9138969" y="2700265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908064-D474-72EB-8981-EBA728584E47}"/>
              </a:ext>
            </a:extLst>
          </p:cNvPr>
          <p:cNvSpPr/>
          <p:nvPr/>
        </p:nvSpPr>
        <p:spPr>
          <a:xfrm>
            <a:off x="7868728" y="2700265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2C2A86-B145-B24B-0092-3AE3DD65A56C}"/>
              </a:ext>
            </a:extLst>
          </p:cNvPr>
          <p:cNvSpPr/>
          <p:nvPr/>
        </p:nvSpPr>
        <p:spPr>
          <a:xfrm>
            <a:off x="5367068" y="1035170"/>
            <a:ext cx="1457864" cy="4787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Aufteilung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BE4818-AFE6-65E0-D999-9B38A5DD8752}"/>
              </a:ext>
            </a:extLst>
          </p:cNvPr>
          <p:cNvSpPr/>
          <p:nvPr/>
        </p:nvSpPr>
        <p:spPr>
          <a:xfrm>
            <a:off x="7868728" y="2957615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2755BD-B438-B72F-C379-0AC356E3532C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4323272" y="3428999"/>
            <a:ext cx="10437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BD545F-1FA3-7133-C693-98E09353068D}"/>
              </a:ext>
            </a:extLst>
          </p:cNvPr>
          <p:cNvSpPr txBox="1"/>
          <p:nvPr/>
        </p:nvSpPr>
        <p:spPr>
          <a:xfrm>
            <a:off x="4501192" y="3198327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12 kWh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9F18937-2099-252D-95A2-39B1DDA1B51C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6824932" y="2807378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290F9B0-5AAB-1512-50A6-50F3B8800D47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6824932" y="3064728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0EA850-A3E8-DB43-D847-BB0BBBD98E5E}"/>
              </a:ext>
            </a:extLst>
          </p:cNvPr>
          <p:cNvSpPr txBox="1"/>
          <p:nvPr/>
        </p:nvSpPr>
        <p:spPr>
          <a:xfrm>
            <a:off x="7002852" y="2543639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 kWh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6CF6AD-89EC-7A12-0D36-276912BBB9E5}"/>
              </a:ext>
            </a:extLst>
          </p:cNvPr>
          <p:cNvSpPr txBox="1"/>
          <p:nvPr/>
        </p:nvSpPr>
        <p:spPr>
          <a:xfrm>
            <a:off x="7002851" y="3084162"/>
            <a:ext cx="865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1,87 kWh</a:t>
            </a:r>
          </a:p>
        </p:txBody>
      </p:sp>
      <p:sp>
        <p:nvSpPr>
          <p:cNvPr id="72" name="Action Button: Go Home 7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644A587-C958-8C74-F397-857D995DDAF9}"/>
              </a:ext>
            </a:extLst>
          </p:cNvPr>
          <p:cNvSpPr/>
          <p:nvPr/>
        </p:nvSpPr>
        <p:spPr>
          <a:xfrm>
            <a:off x="9138969" y="1501424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498A6CB-74C1-81A3-72FC-9F4FF0C9AAC4}"/>
              </a:ext>
            </a:extLst>
          </p:cNvPr>
          <p:cNvSpPr/>
          <p:nvPr/>
        </p:nvSpPr>
        <p:spPr>
          <a:xfrm>
            <a:off x="7868728" y="1501424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DD4034-E253-E8C3-224E-B41265103ABC}"/>
              </a:ext>
            </a:extLst>
          </p:cNvPr>
          <p:cNvSpPr/>
          <p:nvPr/>
        </p:nvSpPr>
        <p:spPr>
          <a:xfrm>
            <a:off x="7868728" y="1758774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F674E78-8E82-58D9-85D1-971EF7FA21FE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6824932" y="1608537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A548A45-5676-BAB1-48B4-EDFE0F0461D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6824932" y="1865887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9FB075-4236-3AAA-91A9-22C55E1625B0}"/>
              </a:ext>
            </a:extLst>
          </p:cNvPr>
          <p:cNvSpPr txBox="1"/>
          <p:nvPr/>
        </p:nvSpPr>
        <p:spPr>
          <a:xfrm>
            <a:off x="7002852" y="1344798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 Wh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1E3527-3D92-B3FF-250D-E13B924B6723}"/>
              </a:ext>
            </a:extLst>
          </p:cNvPr>
          <p:cNvSpPr txBox="1"/>
          <p:nvPr/>
        </p:nvSpPr>
        <p:spPr>
          <a:xfrm>
            <a:off x="7002852" y="1885321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 Wh</a:t>
            </a:r>
          </a:p>
        </p:txBody>
      </p:sp>
      <p:sp>
        <p:nvSpPr>
          <p:cNvPr id="79" name="Action Button: Go Home 7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B2368-B75C-B8BD-EA8F-5B8D53CC28EF}"/>
              </a:ext>
            </a:extLst>
          </p:cNvPr>
          <p:cNvSpPr/>
          <p:nvPr/>
        </p:nvSpPr>
        <p:spPr>
          <a:xfrm>
            <a:off x="9138969" y="5041627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951441A-301E-88B4-681F-DC0DD1B972C8}"/>
              </a:ext>
            </a:extLst>
          </p:cNvPr>
          <p:cNvSpPr/>
          <p:nvPr/>
        </p:nvSpPr>
        <p:spPr>
          <a:xfrm>
            <a:off x="7868728" y="5041627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2BFCF81-F2AA-9A20-E256-2EE9C53776BF}"/>
              </a:ext>
            </a:extLst>
          </p:cNvPr>
          <p:cNvSpPr/>
          <p:nvPr/>
        </p:nvSpPr>
        <p:spPr>
          <a:xfrm>
            <a:off x="7868728" y="5298977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04770D8-B3BE-BA35-1016-A781B1E24D0C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6824932" y="5148740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66A993C-74B5-E090-936B-5A000D4443F4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6824932" y="5406090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7BFF66B-A2F0-A58B-D916-B440B75AF367}"/>
              </a:ext>
            </a:extLst>
          </p:cNvPr>
          <p:cNvSpPr txBox="1"/>
          <p:nvPr/>
        </p:nvSpPr>
        <p:spPr>
          <a:xfrm>
            <a:off x="7002852" y="4885001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12 kWh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2E27EA-5D1E-4E85-244D-720D5BB0521C}"/>
              </a:ext>
            </a:extLst>
          </p:cNvPr>
          <p:cNvSpPr txBox="1"/>
          <p:nvPr/>
        </p:nvSpPr>
        <p:spPr>
          <a:xfrm>
            <a:off x="7002852" y="5425524"/>
            <a:ext cx="796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6,4 kWh</a:t>
            </a:r>
          </a:p>
        </p:txBody>
      </p:sp>
      <p:sp>
        <p:nvSpPr>
          <p:cNvPr id="86" name="Action Button: Go Home 8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48A2817-56CB-9486-69EE-666E9C02B157}"/>
              </a:ext>
            </a:extLst>
          </p:cNvPr>
          <p:cNvSpPr/>
          <p:nvPr/>
        </p:nvSpPr>
        <p:spPr>
          <a:xfrm>
            <a:off x="9138969" y="3907686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1C71775-9BBE-1D1C-6688-37A17DB2B0B4}"/>
              </a:ext>
            </a:extLst>
          </p:cNvPr>
          <p:cNvSpPr/>
          <p:nvPr/>
        </p:nvSpPr>
        <p:spPr>
          <a:xfrm>
            <a:off x="7868728" y="3907686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D4FA893-2E0C-15E1-4AEF-3F29344B23FC}"/>
              </a:ext>
            </a:extLst>
          </p:cNvPr>
          <p:cNvSpPr/>
          <p:nvPr/>
        </p:nvSpPr>
        <p:spPr>
          <a:xfrm>
            <a:off x="7868728" y="4165036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8817E28-27F5-AE9D-BBF0-C19DC94656F7}"/>
              </a:ext>
            </a:extLst>
          </p:cNvPr>
          <p:cNvCxnSpPr>
            <a:cxnSpLocks/>
            <a:stCxn id="87" idx="1"/>
          </p:cNvCxnSpPr>
          <p:nvPr/>
        </p:nvCxnSpPr>
        <p:spPr>
          <a:xfrm flipH="1">
            <a:off x="6824932" y="4014799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A9AA5C-1953-6714-2231-7ED5E2CABEC8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6824932" y="4272149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B2446F3-61D7-7815-1E3D-D6661E650D2D}"/>
              </a:ext>
            </a:extLst>
          </p:cNvPr>
          <p:cNvSpPr txBox="1"/>
          <p:nvPr/>
        </p:nvSpPr>
        <p:spPr>
          <a:xfrm>
            <a:off x="7002852" y="3751060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2 kWh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7D571E-E155-BD09-7035-DDAD64967D69}"/>
              </a:ext>
            </a:extLst>
          </p:cNvPr>
          <p:cNvSpPr txBox="1"/>
          <p:nvPr/>
        </p:nvSpPr>
        <p:spPr>
          <a:xfrm>
            <a:off x="7002851" y="4291583"/>
            <a:ext cx="819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3,73 kWh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D44F2D-F049-7EA8-CB47-FBDDFCC73B0E}"/>
              </a:ext>
            </a:extLst>
          </p:cNvPr>
          <p:cNvSpPr txBox="1"/>
          <p:nvPr/>
        </p:nvSpPr>
        <p:spPr>
          <a:xfrm>
            <a:off x="9841300" y="1555236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389586-EFA2-565E-677B-B61F533A74E0}"/>
              </a:ext>
            </a:extLst>
          </p:cNvPr>
          <p:cNvSpPr txBox="1"/>
          <p:nvPr/>
        </p:nvSpPr>
        <p:spPr>
          <a:xfrm>
            <a:off x="9819016" y="2750669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FADA3E5-9928-450E-EF40-439BEF253C90}"/>
              </a:ext>
            </a:extLst>
          </p:cNvPr>
          <p:cNvSpPr txBox="1"/>
          <p:nvPr/>
        </p:nvSpPr>
        <p:spPr>
          <a:xfrm>
            <a:off x="9841300" y="3958090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F0CF3F8-EF42-680C-4E30-CD235BE30C26}"/>
              </a:ext>
            </a:extLst>
          </p:cNvPr>
          <p:cNvSpPr txBox="1"/>
          <p:nvPr/>
        </p:nvSpPr>
        <p:spPr>
          <a:xfrm>
            <a:off x="9841300" y="5074637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D8DBA0E-EDEF-1FD5-63C4-77CDA4A1EA6C}"/>
                  </a:ext>
                </a:extLst>
              </p:cNvPr>
              <p:cNvSpPr txBox="1"/>
              <p:nvPr/>
            </p:nvSpPr>
            <p:spPr>
              <a:xfrm>
                <a:off x="386048" y="4121911"/>
                <a:ext cx="3320681" cy="2573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𝐺𝑒𝑠𝑎𝑚𝑡𝑙𝑎𝑠𝑡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=15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𝐸𝑟𝑧𝑒𝑢𝑔𝑢𝑛𝑔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=12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𝐸𝑟𝑧𝑒𝑢𝑔𝑢𝑛𝑔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𝐿𝑎𝑠𝑡</m:t>
                          </m:r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de-AT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sz="11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e-AT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𝐺𝑒𝑠𝑎𝑚𝑡𝑙𝑎𝑠𝑡</m:t>
                          </m:r>
                        </m:den>
                      </m:f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(12 −6,4)∗</m:t>
                      </m:r>
                      <m:f>
                        <m:fPr>
                          <m:ctrlPr>
                            <a:rPr lang="de-AT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=1,87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(12 −6,4)∗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=3,73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6,4 </m:t>
                      </m:r>
                      <m:r>
                        <a:rPr lang="de-AT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D8DBA0E-EDEF-1FD5-63C4-77CDA4A1E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8" y="4121911"/>
                <a:ext cx="3320681" cy="2573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03791CD-D563-1BEB-6DB6-C2D8DC31C768}"/>
              </a:ext>
            </a:extLst>
          </p:cNvPr>
          <p:cNvCxnSpPr>
            <a:stCxn id="79" idx="1"/>
            <a:endCxn id="41" idx="2"/>
          </p:cNvCxnSpPr>
          <p:nvPr/>
        </p:nvCxnSpPr>
        <p:spPr>
          <a:xfrm rot="5400000">
            <a:off x="7625856" y="3981912"/>
            <a:ext cx="311063" cy="3370773"/>
          </a:xfrm>
          <a:prstGeom prst="bentConnector3">
            <a:avLst>
              <a:gd name="adj1" fmla="val 17349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0470C1-7731-0B21-A48D-8B008CE3621C}"/>
              </a:ext>
            </a:extLst>
          </p:cNvPr>
          <p:cNvSpPr txBox="1"/>
          <p:nvPr/>
        </p:nvSpPr>
        <p:spPr>
          <a:xfrm>
            <a:off x="7002852" y="6050160"/>
            <a:ext cx="796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6,4 kWh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22BB2-28C3-027E-DDC3-54F45C99808C}"/>
              </a:ext>
            </a:extLst>
          </p:cNvPr>
          <p:cNvSpPr txBox="1"/>
          <p:nvPr/>
        </p:nvSpPr>
        <p:spPr>
          <a:xfrm>
            <a:off x="7871605" y="6114536"/>
            <a:ext cx="29329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M4 braucht nur 6,4 kWh und bekommt diese auch zugesprochen. M2 und M3 bekommen die restlichen Anteile von M4.</a:t>
            </a:r>
            <a:endParaRPr lang="de-AT" sz="11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2A806D-2C29-B351-4555-A593FC080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48" y="238666"/>
            <a:ext cx="9692640" cy="560062"/>
          </a:xfrm>
        </p:spPr>
        <p:txBody>
          <a:bodyPr>
            <a:normAutofit fontScale="90000"/>
          </a:bodyPr>
          <a:lstStyle/>
          <a:p>
            <a:r>
              <a:rPr lang="de-AT" sz="3600" dirty="0"/>
              <a:t>Aufteilung exkl. Flexibilität (2/2)</a:t>
            </a:r>
          </a:p>
        </p:txBody>
      </p:sp>
    </p:spTree>
    <p:extLst>
      <p:ext uri="{BB962C8B-B14F-4D97-AF65-F5344CB8AC3E}">
        <p14:creationId xmlns:p14="http://schemas.microsoft.com/office/powerpoint/2010/main" val="51683403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0</TotalTime>
  <Words>368</Words>
  <Application>Microsoft Office PowerPoint</Application>
  <PresentationFormat>Widescreen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Cambria Math</vt:lpstr>
      <vt:lpstr>Century Schoolbook</vt:lpstr>
      <vt:lpstr>Wingdings 2</vt:lpstr>
      <vt:lpstr>View</vt:lpstr>
      <vt:lpstr>Thema Bachelorarbeit</vt:lpstr>
      <vt:lpstr>Komplexität des alten Themas</vt:lpstr>
      <vt:lpstr>Neues Thema</vt:lpstr>
      <vt:lpstr>Neues Thema</vt:lpstr>
      <vt:lpstr>Aufteilung exkl. Flexibilität (1/2)</vt:lpstr>
      <vt:lpstr>Aufteilung exkl. Flexibilität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Thema Bachelorarbeit</dc:title>
  <dc:creator>Tobias Fischer</dc:creator>
  <cp:lastModifiedBy>Tobias Fischer</cp:lastModifiedBy>
  <cp:revision>7</cp:revision>
  <dcterms:created xsi:type="dcterms:W3CDTF">2022-12-03T10:45:41Z</dcterms:created>
  <dcterms:modified xsi:type="dcterms:W3CDTF">2022-12-06T14:49:53Z</dcterms:modified>
</cp:coreProperties>
</file>