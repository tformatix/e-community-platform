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61" r:id="rId6"/>
    <p:sldId id="264" r:id="rId7"/>
    <p:sldId id="265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055090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85066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9801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72680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95361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17770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40239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05043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89984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7309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52167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BA2C29F9-8EC4-4A28-94D0-1519FBED630A}" type="datetimeFigureOut">
              <a:rPr lang="de-AT" smtClean="0"/>
              <a:t>05.12.2022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29311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58974-6DA3-5C17-12E6-6A8E749ACD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AT" sz="6600" dirty="0"/>
              <a:t>Thema Bachelorarbeit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61D43D-9FF3-0A89-3D9B-FD41049306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Tobias Fischer</a:t>
            </a:r>
          </a:p>
        </p:txBody>
      </p:sp>
    </p:spTree>
    <p:extLst>
      <p:ext uri="{BB962C8B-B14F-4D97-AF65-F5344CB8AC3E}">
        <p14:creationId xmlns:p14="http://schemas.microsoft.com/office/powerpoint/2010/main" val="3329216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5C98-5E82-A0C1-0839-0283D964F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Komplexität des alten Themas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2E549-86D2-8BB3-4F20-BE3BC775A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AT" dirty="0"/>
              <a:t>Komplexität der Simulation</a:t>
            </a:r>
          </a:p>
          <a:p>
            <a:pPr lvl="1"/>
            <a:r>
              <a:rPr lang="de-AT" dirty="0"/>
              <a:t>SG-Ready Simulation nicht vorhanden</a:t>
            </a:r>
          </a:p>
          <a:p>
            <a:pPr lvl="1"/>
            <a:r>
              <a:rPr lang="de-AT" dirty="0"/>
              <a:t>Verknüpfung der relevanten Daten mit bereits vorhandener Simulation</a:t>
            </a:r>
          </a:p>
          <a:p>
            <a:r>
              <a:rPr lang="de-AT" dirty="0"/>
              <a:t>verschiedene Optimierungsmöglichkeiten</a:t>
            </a:r>
          </a:p>
          <a:p>
            <a:pPr lvl="1"/>
            <a:r>
              <a:rPr lang="de-AT" dirty="0"/>
              <a:t>Eigenheim</a:t>
            </a:r>
          </a:p>
          <a:p>
            <a:pPr lvl="1"/>
            <a:r>
              <a:rPr lang="de-AT" dirty="0"/>
              <a:t>Energiegemeinschaft</a:t>
            </a:r>
          </a:p>
          <a:p>
            <a:pPr lvl="1"/>
            <a:r>
              <a:rPr lang="de-AT" dirty="0"/>
              <a:t>Einspeisung</a:t>
            </a:r>
          </a:p>
          <a:p>
            <a:r>
              <a:rPr lang="de-AT" dirty="0"/>
              <a:t>Vorhersagen treffen</a:t>
            </a:r>
          </a:p>
          <a:p>
            <a:r>
              <a:rPr lang="de-AT" dirty="0"/>
              <a:t>sinnvolle Entscheidungen treffen</a:t>
            </a:r>
          </a:p>
          <a:p>
            <a:pPr lvl="1"/>
            <a:r>
              <a:rPr lang="de-AT" dirty="0"/>
              <a:t>Kombination der vielen Faktoren</a:t>
            </a:r>
          </a:p>
          <a:p>
            <a:r>
              <a:rPr lang="de-AT" dirty="0"/>
              <a:t>Wärmepumpen/Eigenheime sind </a:t>
            </a:r>
          </a:p>
          <a:p>
            <a:pPr lvl="1"/>
            <a:r>
              <a:rPr lang="de-AT" dirty="0"/>
              <a:t>unterschiedlich</a:t>
            </a:r>
          </a:p>
          <a:p>
            <a:pPr lvl="1"/>
            <a:r>
              <a:rPr lang="de-AT" dirty="0"/>
              <a:t>komplex</a:t>
            </a:r>
          </a:p>
          <a:p>
            <a:pPr lvl="1"/>
            <a:r>
              <a:rPr lang="de-AT" dirty="0"/>
              <a:t>schwer zum Testen</a:t>
            </a:r>
          </a:p>
        </p:txBody>
      </p:sp>
    </p:spTree>
    <p:extLst>
      <p:ext uri="{BB962C8B-B14F-4D97-AF65-F5344CB8AC3E}">
        <p14:creationId xmlns:p14="http://schemas.microsoft.com/office/powerpoint/2010/main" val="911947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C7085-AC0B-692A-D730-BF9625AA2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Neues Thema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855FF-CC0F-6E1E-646A-CF560A45D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AT" dirty="0"/>
              <a:t>Optimierte dynamische Energie-Aufteilung in Energiegemeinschaften</a:t>
            </a:r>
          </a:p>
          <a:p>
            <a:r>
              <a:rPr lang="de-AT" dirty="0"/>
              <a:t>Benutzer erhält jede Stunde Zuspruch von Energie</a:t>
            </a:r>
          </a:p>
          <a:p>
            <a:pPr lvl="1"/>
            <a:r>
              <a:rPr lang="de-AT" dirty="0"/>
              <a:t>anhand von Lastprofil in Kombination mit einer Flexibilität</a:t>
            </a:r>
          </a:p>
          <a:p>
            <a:pPr lvl="2"/>
            <a:r>
              <a:rPr lang="de-AT" dirty="0"/>
              <a:t>durch intelligentes System (Black Box)</a:t>
            </a:r>
          </a:p>
          <a:p>
            <a:pPr lvl="2"/>
            <a:r>
              <a:rPr lang="de-AT" dirty="0"/>
              <a:t>Lastprofil</a:t>
            </a:r>
          </a:p>
          <a:p>
            <a:pPr lvl="3"/>
            <a:r>
              <a:rPr lang="de-AT" dirty="0"/>
              <a:t>Wie viel Energie wird benötigt?</a:t>
            </a:r>
          </a:p>
          <a:p>
            <a:pPr lvl="2"/>
            <a:r>
              <a:rPr lang="de-AT" dirty="0"/>
              <a:t>Flexibilität</a:t>
            </a:r>
          </a:p>
          <a:p>
            <a:pPr lvl="3"/>
            <a:r>
              <a:rPr lang="de-AT" dirty="0"/>
              <a:t>Auf </a:t>
            </a:r>
            <a:r>
              <a:rPr lang="de-DE" dirty="0"/>
              <a:t>wie viel Energie könnte ich verzichten?</a:t>
            </a:r>
          </a:p>
          <a:p>
            <a:pPr lvl="3"/>
            <a:r>
              <a:rPr lang="de-DE" dirty="0"/>
              <a:t>Wie viel Energie könnte ich zusätzlich konsumieren?</a:t>
            </a:r>
            <a:endParaRPr lang="de-AT" dirty="0"/>
          </a:p>
          <a:p>
            <a:r>
              <a:rPr lang="de-AT" dirty="0"/>
              <a:t>Bestätigung, ob zugesprochene Energie verbraucht werden kann</a:t>
            </a:r>
          </a:p>
          <a:p>
            <a:pPr lvl="2"/>
            <a:r>
              <a:rPr lang="de-AT" dirty="0"/>
              <a:t>durch App (Visualisierung mittels Charts)</a:t>
            </a:r>
          </a:p>
          <a:p>
            <a:pPr lvl="2"/>
            <a:r>
              <a:rPr lang="de-AT" dirty="0"/>
              <a:t>Smart Home Gerät</a:t>
            </a:r>
          </a:p>
          <a:p>
            <a:pPr lvl="2"/>
            <a:r>
              <a:rPr lang="de-AT" dirty="0"/>
              <a:t>Falls nein: anders aufteilen</a:t>
            </a:r>
          </a:p>
        </p:txBody>
      </p:sp>
    </p:spTree>
    <p:extLst>
      <p:ext uri="{BB962C8B-B14F-4D97-AF65-F5344CB8AC3E}">
        <p14:creationId xmlns:p14="http://schemas.microsoft.com/office/powerpoint/2010/main" val="448656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B46E5-5EEA-0435-A989-903CE7BA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Neues Thema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21E4B0-5AF0-5B6D-F6CE-981A93D28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Schritte</a:t>
            </a:r>
          </a:p>
          <a:p>
            <a:pPr lvl="1"/>
            <a:r>
              <a:rPr lang="de-AT" dirty="0"/>
              <a:t>Aufteilung</a:t>
            </a:r>
          </a:p>
          <a:p>
            <a:pPr lvl="2"/>
            <a:r>
              <a:rPr lang="de-AT" dirty="0"/>
              <a:t>auf dynamische Aufteilung fokussieren </a:t>
            </a:r>
            <a:r>
              <a:rPr lang="de-AT" dirty="0">
                <a:sym typeface="Wingdings" panose="05000000000000000000" pitchFamily="2" charset="2"/>
              </a:rPr>
              <a:t> mehr Optimierungsmöglichkeiten</a:t>
            </a:r>
            <a:endParaRPr lang="de-AT" dirty="0"/>
          </a:p>
          <a:p>
            <a:pPr lvl="1"/>
            <a:r>
              <a:rPr lang="de-AT" dirty="0"/>
              <a:t>Lastprofil (aus Vorwoche)</a:t>
            </a:r>
          </a:p>
          <a:p>
            <a:pPr lvl="2"/>
            <a:r>
              <a:rPr lang="de-AT" dirty="0"/>
              <a:t>Auch als Ersatzwerte bei fehlenden Daten</a:t>
            </a:r>
          </a:p>
          <a:p>
            <a:pPr lvl="1"/>
            <a:r>
              <a:rPr lang="de-AT" dirty="0"/>
              <a:t>Flexibilität durch vernünftige Random-Werte</a:t>
            </a:r>
          </a:p>
          <a:p>
            <a:r>
              <a:rPr lang="de-AT" dirty="0"/>
              <a:t>Wärmepumpe = variabler Verbraucher</a:t>
            </a:r>
          </a:p>
          <a:p>
            <a:pPr lvl="1"/>
            <a:r>
              <a:rPr lang="de-AT" dirty="0"/>
              <a:t>kann gut durch Smart Home Gerät dynamisch Strom verbrauchen</a:t>
            </a:r>
          </a:p>
        </p:txBody>
      </p:sp>
    </p:spTree>
    <p:extLst>
      <p:ext uri="{BB962C8B-B14F-4D97-AF65-F5344CB8AC3E}">
        <p14:creationId xmlns:p14="http://schemas.microsoft.com/office/powerpoint/2010/main" val="809604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35FD99-BAF3-106D-2FF9-20D83FC38DCC}"/>
              </a:ext>
            </a:extLst>
          </p:cNvPr>
          <p:cNvSpPr/>
          <p:nvPr/>
        </p:nvSpPr>
        <p:spPr>
          <a:xfrm>
            <a:off x="2865408" y="3209025"/>
            <a:ext cx="1457864" cy="4399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Erzeugung</a:t>
            </a:r>
          </a:p>
        </p:txBody>
      </p:sp>
      <p:sp>
        <p:nvSpPr>
          <p:cNvPr id="33" name="Action Button: Go Home 3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3C1E6FB1-28F7-6093-CFD6-2F865EE68F6A}"/>
              </a:ext>
            </a:extLst>
          </p:cNvPr>
          <p:cNvSpPr/>
          <p:nvPr/>
        </p:nvSpPr>
        <p:spPr>
          <a:xfrm>
            <a:off x="9138969" y="2700265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908064-D474-72EB-8981-EBA728584E47}"/>
              </a:ext>
            </a:extLst>
          </p:cNvPr>
          <p:cNvSpPr/>
          <p:nvPr/>
        </p:nvSpPr>
        <p:spPr>
          <a:xfrm>
            <a:off x="7868728" y="2700265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2C2A86-B145-B24B-0092-3AE3DD65A56C}"/>
              </a:ext>
            </a:extLst>
          </p:cNvPr>
          <p:cNvSpPr/>
          <p:nvPr/>
        </p:nvSpPr>
        <p:spPr>
          <a:xfrm>
            <a:off x="5367068" y="1035170"/>
            <a:ext cx="1457864" cy="47876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Aufteilung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BE4818-AFE6-65E0-D999-9B38A5DD8752}"/>
              </a:ext>
            </a:extLst>
          </p:cNvPr>
          <p:cNvSpPr/>
          <p:nvPr/>
        </p:nvSpPr>
        <p:spPr>
          <a:xfrm>
            <a:off x="7868728" y="2957615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C2755BD-B438-B72F-C379-0AC356E3532C}"/>
              </a:ext>
            </a:extLst>
          </p:cNvPr>
          <p:cNvCxnSpPr>
            <a:cxnSpLocks/>
            <a:stCxn id="4" idx="3"/>
            <a:endCxn id="41" idx="1"/>
          </p:cNvCxnSpPr>
          <p:nvPr/>
        </p:nvCxnSpPr>
        <p:spPr>
          <a:xfrm>
            <a:off x="4323272" y="3428999"/>
            <a:ext cx="104379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9BD545F-1FA3-7133-C693-98E09353068D}"/>
              </a:ext>
            </a:extLst>
          </p:cNvPr>
          <p:cNvSpPr txBox="1"/>
          <p:nvPr/>
        </p:nvSpPr>
        <p:spPr>
          <a:xfrm>
            <a:off x="4501192" y="3198327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9F18937-2099-252D-95A2-39B1DDA1B51C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6824932" y="280737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290F9B0-5AAB-1512-50A6-50F3B8800D47}"/>
              </a:ext>
            </a:extLst>
          </p:cNvPr>
          <p:cNvCxnSpPr>
            <a:cxnSpLocks/>
            <a:endCxn id="42" idx="1"/>
          </p:cNvCxnSpPr>
          <p:nvPr/>
        </p:nvCxnSpPr>
        <p:spPr>
          <a:xfrm>
            <a:off x="6824932" y="306472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90EA850-A3E8-DB43-D847-BB0BBBD98E5E}"/>
              </a:ext>
            </a:extLst>
          </p:cNvPr>
          <p:cNvSpPr txBox="1"/>
          <p:nvPr/>
        </p:nvSpPr>
        <p:spPr>
          <a:xfrm>
            <a:off x="7002852" y="2543639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 kWh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6CF6AD-89EC-7A12-0D36-276912BBB9E5}"/>
              </a:ext>
            </a:extLst>
          </p:cNvPr>
          <p:cNvSpPr txBox="1"/>
          <p:nvPr/>
        </p:nvSpPr>
        <p:spPr>
          <a:xfrm>
            <a:off x="7002851" y="3084162"/>
            <a:ext cx="7961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0,8 kWh</a:t>
            </a:r>
          </a:p>
        </p:txBody>
      </p:sp>
      <p:sp>
        <p:nvSpPr>
          <p:cNvPr id="72" name="Action Button: Go Home 7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644A587-C958-8C74-F397-857D995DDAF9}"/>
              </a:ext>
            </a:extLst>
          </p:cNvPr>
          <p:cNvSpPr/>
          <p:nvPr/>
        </p:nvSpPr>
        <p:spPr>
          <a:xfrm>
            <a:off x="9138969" y="1501424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498A6CB-74C1-81A3-72FC-9F4FF0C9AAC4}"/>
              </a:ext>
            </a:extLst>
          </p:cNvPr>
          <p:cNvSpPr/>
          <p:nvPr/>
        </p:nvSpPr>
        <p:spPr>
          <a:xfrm>
            <a:off x="7868728" y="150142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9DD4034-E253-E8C3-224E-B41265103ABC}"/>
              </a:ext>
            </a:extLst>
          </p:cNvPr>
          <p:cNvSpPr/>
          <p:nvPr/>
        </p:nvSpPr>
        <p:spPr>
          <a:xfrm>
            <a:off x="7868728" y="175877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F674E78-8E82-58D9-85D1-971EF7FA21FE}"/>
              </a:ext>
            </a:extLst>
          </p:cNvPr>
          <p:cNvCxnSpPr>
            <a:cxnSpLocks/>
            <a:stCxn id="73" idx="1"/>
          </p:cNvCxnSpPr>
          <p:nvPr/>
        </p:nvCxnSpPr>
        <p:spPr>
          <a:xfrm flipH="1">
            <a:off x="6824932" y="160853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A548A45-5676-BAB1-48B4-EDFE0F0461DE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6824932" y="186588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9C9FB075-4236-3AAA-91A9-22C55E1625B0}"/>
              </a:ext>
            </a:extLst>
          </p:cNvPr>
          <p:cNvSpPr txBox="1"/>
          <p:nvPr/>
        </p:nvSpPr>
        <p:spPr>
          <a:xfrm>
            <a:off x="7002852" y="1344798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1E3527-3D92-B3FF-250D-E13B924B6723}"/>
              </a:ext>
            </a:extLst>
          </p:cNvPr>
          <p:cNvSpPr txBox="1"/>
          <p:nvPr/>
        </p:nvSpPr>
        <p:spPr>
          <a:xfrm>
            <a:off x="7002852" y="188532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9" name="Action Button: Go Home 78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5BB2368-B75C-B8BD-EA8F-5B8D53CC28EF}"/>
              </a:ext>
            </a:extLst>
          </p:cNvPr>
          <p:cNvSpPr/>
          <p:nvPr/>
        </p:nvSpPr>
        <p:spPr>
          <a:xfrm>
            <a:off x="9138969" y="5041627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951441A-301E-88B4-681F-DC0DD1B972C8}"/>
              </a:ext>
            </a:extLst>
          </p:cNvPr>
          <p:cNvSpPr/>
          <p:nvPr/>
        </p:nvSpPr>
        <p:spPr>
          <a:xfrm>
            <a:off x="7868728" y="504162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2BFCF81-F2AA-9A20-E256-2EE9C53776BF}"/>
              </a:ext>
            </a:extLst>
          </p:cNvPr>
          <p:cNvSpPr/>
          <p:nvPr/>
        </p:nvSpPr>
        <p:spPr>
          <a:xfrm>
            <a:off x="7868728" y="529897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404770D8-B3BE-BA35-1016-A781B1E24D0C}"/>
              </a:ext>
            </a:extLst>
          </p:cNvPr>
          <p:cNvCxnSpPr>
            <a:cxnSpLocks/>
            <a:stCxn id="80" idx="1"/>
          </p:cNvCxnSpPr>
          <p:nvPr/>
        </p:nvCxnSpPr>
        <p:spPr>
          <a:xfrm flipH="1">
            <a:off x="6824932" y="514874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66A993C-74B5-E090-936B-5A000D4443F4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6824932" y="540609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C7BFF66B-A2F0-A58B-D916-B440B75AF367}"/>
              </a:ext>
            </a:extLst>
          </p:cNvPr>
          <p:cNvSpPr txBox="1"/>
          <p:nvPr/>
        </p:nvSpPr>
        <p:spPr>
          <a:xfrm>
            <a:off x="7002852" y="488500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02E27EA-5D1E-4E85-244D-720D5BB0521C}"/>
              </a:ext>
            </a:extLst>
          </p:cNvPr>
          <p:cNvSpPr txBox="1"/>
          <p:nvPr/>
        </p:nvSpPr>
        <p:spPr>
          <a:xfrm>
            <a:off x="7002852" y="5425524"/>
            <a:ext cx="796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9,6 kWh</a:t>
            </a:r>
          </a:p>
        </p:txBody>
      </p:sp>
      <p:sp>
        <p:nvSpPr>
          <p:cNvPr id="86" name="Action Button: Go Home 85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48A2817-56CB-9486-69EE-666E9C02B157}"/>
              </a:ext>
            </a:extLst>
          </p:cNvPr>
          <p:cNvSpPr/>
          <p:nvPr/>
        </p:nvSpPr>
        <p:spPr>
          <a:xfrm>
            <a:off x="9138969" y="3907686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1C71775-9BBE-1D1C-6688-37A17DB2B0B4}"/>
              </a:ext>
            </a:extLst>
          </p:cNvPr>
          <p:cNvSpPr/>
          <p:nvPr/>
        </p:nvSpPr>
        <p:spPr>
          <a:xfrm>
            <a:off x="7868728" y="3907686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D4FA893-2E0C-15E1-4AEF-3F29344B23FC}"/>
              </a:ext>
            </a:extLst>
          </p:cNvPr>
          <p:cNvSpPr/>
          <p:nvPr/>
        </p:nvSpPr>
        <p:spPr>
          <a:xfrm>
            <a:off x="7868728" y="4165036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68817E28-27F5-AE9D-BBF0-C19DC94656F7}"/>
              </a:ext>
            </a:extLst>
          </p:cNvPr>
          <p:cNvCxnSpPr>
            <a:cxnSpLocks/>
            <a:stCxn id="87" idx="1"/>
          </p:cNvCxnSpPr>
          <p:nvPr/>
        </p:nvCxnSpPr>
        <p:spPr>
          <a:xfrm flipH="1">
            <a:off x="6824932" y="401479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B4A9AA5C-1953-6714-2231-7ED5E2CABEC8}"/>
              </a:ext>
            </a:extLst>
          </p:cNvPr>
          <p:cNvCxnSpPr>
            <a:cxnSpLocks/>
            <a:endCxn id="88" idx="1"/>
          </p:cNvCxnSpPr>
          <p:nvPr/>
        </p:nvCxnSpPr>
        <p:spPr>
          <a:xfrm>
            <a:off x="6824932" y="427214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6B2446F3-61D7-7815-1E3D-D6661E650D2D}"/>
              </a:ext>
            </a:extLst>
          </p:cNvPr>
          <p:cNvSpPr txBox="1"/>
          <p:nvPr/>
        </p:nvSpPr>
        <p:spPr>
          <a:xfrm>
            <a:off x="7002852" y="3751060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2 kWh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17D571E-E155-BD09-7035-DDAD64967D69}"/>
              </a:ext>
            </a:extLst>
          </p:cNvPr>
          <p:cNvSpPr txBox="1"/>
          <p:nvPr/>
        </p:nvSpPr>
        <p:spPr>
          <a:xfrm>
            <a:off x="7002852" y="4291583"/>
            <a:ext cx="796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1,6 kWh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0D44F2D-F049-7EA8-CB47-FBDDFCC73B0E}"/>
              </a:ext>
            </a:extLst>
          </p:cNvPr>
          <p:cNvSpPr txBox="1"/>
          <p:nvPr/>
        </p:nvSpPr>
        <p:spPr>
          <a:xfrm>
            <a:off x="9841300" y="1555236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389586-EFA2-565E-677B-B61F533A74E0}"/>
              </a:ext>
            </a:extLst>
          </p:cNvPr>
          <p:cNvSpPr txBox="1"/>
          <p:nvPr/>
        </p:nvSpPr>
        <p:spPr>
          <a:xfrm>
            <a:off x="9819016" y="2750669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FADA3E5-9928-450E-EF40-439BEF253C90}"/>
              </a:ext>
            </a:extLst>
          </p:cNvPr>
          <p:cNvSpPr txBox="1"/>
          <p:nvPr/>
        </p:nvSpPr>
        <p:spPr>
          <a:xfrm>
            <a:off x="9841300" y="3958090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F0CF3F8-EF42-680C-4E30-CD235BE30C26}"/>
              </a:ext>
            </a:extLst>
          </p:cNvPr>
          <p:cNvSpPr txBox="1"/>
          <p:nvPr/>
        </p:nvSpPr>
        <p:spPr>
          <a:xfrm>
            <a:off x="9841300" y="5074637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M4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A492F9-BF65-4584-13C3-4EAC1DF4D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048" y="238666"/>
            <a:ext cx="9692640" cy="560062"/>
          </a:xfrm>
        </p:spPr>
        <p:txBody>
          <a:bodyPr>
            <a:normAutofit fontScale="90000"/>
          </a:bodyPr>
          <a:lstStyle/>
          <a:p>
            <a:r>
              <a:rPr lang="de-AT" sz="3600" dirty="0"/>
              <a:t>Aufteilung exkl. Flexibilität (1/2)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FC52C0-14A8-CCDB-82B6-0D5B7E6D78A8}"/>
                  </a:ext>
                </a:extLst>
              </p:cNvPr>
              <p:cNvSpPr txBox="1"/>
              <p:nvPr/>
            </p:nvSpPr>
            <p:spPr>
              <a:xfrm>
                <a:off x="383531" y="4032829"/>
                <a:ext cx="3320681" cy="27224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𝐺𝑒𝑠𝑎𝑚𝑡𝑙𝑎𝑠𝑡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=15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𝐸𝑟𝑧𝑒𝑢𝑔𝑢𝑛𝑔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=12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𝐸𝑟𝑧𝑒𝑢𝑔𝑢𝑛𝑔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𝐿𝑎𝑠𝑡</m:t>
                          </m:r>
                          <m:sSub>
                            <m:sSubPr>
                              <m:ctrlPr>
                                <a:rPr lang="de-AT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sz="11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AT" sz="11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de-AT" sz="11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𝐺𝑒𝑠𝑎𝑚𝑡</m:t>
                          </m:r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𝑙𝑎𝑠𝑡</m:t>
                          </m:r>
                        </m:den>
                      </m:f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0 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12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=0,8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12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=1,6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12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=9,6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BFC52C0-14A8-CCDB-82B6-0D5B7E6D7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531" y="4032829"/>
                <a:ext cx="3320681" cy="27224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631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35FD99-BAF3-106D-2FF9-20D83FC38DCC}"/>
              </a:ext>
            </a:extLst>
          </p:cNvPr>
          <p:cNvSpPr/>
          <p:nvPr/>
        </p:nvSpPr>
        <p:spPr>
          <a:xfrm>
            <a:off x="2865408" y="3209025"/>
            <a:ext cx="1457864" cy="4399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Erzeugung</a:t>
            </a:r>
          </a:p>
        </p:txBody>
      </p:sp>
      <p:sp>
        <p:nvSpPr>
          <p:cNvPr id="33" name="Action Button: Go Home 3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3C1E6FB1-28F7-6093-CFD6-2F865EE68F6A}"/>
              </a:ext>
            </a:extLst>
          </p:cNvPr>
          <p:cNvSpPr/>
          <p:nvPr/>
        </p:nvSpPr>
        <p:spPr>
          <a:xfrm>
            <a:off x="9138969" y="2700265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908064-D474-72EB-8981-EBA728584E47}"/>
              </a:ext>
            </a:extLst>
          </p:cNvPr>
          <p:cNvSpPr/>
          <p:nvPr/>
        </p:nvSpPr>
        <p:spPr>
          <a:xfrm>
            <a:off x="7868728" y="2700265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2C2A86-B145-B24B-0092-3AE3DD65A56C}"/>
              </a:ext>
            </a:extLst>
          </p:cNvPr>
          <p:cNvSpPr/>
          <p:nvPr/>
        </p:nvSpPr>
        <p:spPr>
          <a:xfrm>
            <a:off x="5367068" y="1035170"/>
            <a:ext cx="1457864" cy="47876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Aufteilung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BE4818-AFE6-65E0-D999-9B38A5DD8752}"/>
              </a:ext>
            </a:extLst>
          </p:cNvPr>
          <p:cNvSpPr/>
          <p:nvPr/>
        </p:nvSpPr>
        <p:spPr>
          <a:xfrm>
            <a:off x="7868728" y="2957615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C2755BD-B438-B72F-C379-0AC356E3532C}"/>
              </a:ext>
            </a:extLst>
          </p:cNvPr>
          <p:cNvCxnSpPr>
            <a:cxnSpLocks/>
            <a:stCxn id="4" idx="3"/>
            <a:endCxn id="41" idx="1"/>
          </p:cNvCxnSpPr>
          <p:nvPr/>
        </p:nvCxnSpPr>
        <p:spPr>
          <a:xfrm>
            <a:off x="4323272" y="3428999"/>
            <a:ext cx="104379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9BD545F-1FA3-7133-C693-98E09353068D}"/>
              </a:ext>
            </a:extLst>
          </p:cNvPr>
          <p:cNvSpPr txBox="1"/>
          <p:nvPr/>
        </p:nvSpPr>
        <p:spPr>
          <a:xfrm>
            <a:off x="4501192" y="3198327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9F18937-2099-252D-95A2-39B1DDA1B51C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6824932" y="280737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290F9B0-5AAB-1512-50A6-50F3B8800D47}"/>
              </a:ext>
            </a:extLst>
          </p:cNvPr>
          <p:cNvCxnSpPr>
            <a:cxnSpLocks/>
            <a:endCxn id="42" idx="1"/>
          </p:cNvCxnSpPr>
          <p:nvPr/>
        </p:nvCxnSpPr>
        <p:spPr>
          <a:xfrm>
            <a:off x="6824932" y="306472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90EA850-A3E8-DB43-D847-BB0BBBD98E5E}"/>
              </a:ext>
            </a:extLst>
          </p:cNvPr>
          <p:cNvSpPr txBox="1"/>
          <p:nvPr/>
        </p:nvSpPr>
        <p:spPr>
          <a:xfrm>
            <a:off x="7002852" y="2543639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 kWh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6CF6AD-89EC-7A12-0D36-276912BBB9E5}"/>
              </a:ext>
            </a:extLst>
          </p:cNvPr>
          <p:cNvSpPr txBox="1"/>
          <p:nvPr/>
        </p:nvSpPr>
        <p:spPr>
          <a:xfrm>
            <a:off x="7002851" y="3084162"/>
            <a:ext cx="8658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1,87 kWh</a:t>
            </a:r>
          </a:p>
        </p:txBody>
      </p:sp>
      <p:sp>
        <p:nvSpPr>
          <p:cNvPr id="72" name="Action Button: Go Home 7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644A587-C958-8C74-F397-857D995DDAF9}"/>
              </a:ext>
            </a:extLst>
          </p:cNvPr>
          <p:cNvSpPr/>
          <p:nvPr/>
        </p:nvSpPr>
        <p:spPr>
          <a:xfrm>
            <a:off x="9138969" y="1501424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498A6CB-74C1-81A3-72FC-9F4FF0C9AAC4}"/>
              </a:ext>
            </a:extLst>
          </p:cNvPr>
          <p:cNvSpPr/>
          <p:nvPr/>
        </p:nvSpPr>
        <p:spPr>
          <a:xfrm>
            <a:off x="7868728" y="150142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9DD4034-E253-E8C3-224E-B41265103ABC}"/>
              </a:ext>
            </a:extLst>
          </p:cNvPr>
          <p:cNvSpPr/>
          <p:nvPr/>
        </p:nvSpPr>
        <p:spPr>
          <a:xfrm>
            <a:off x="7868728" y="175877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F674E78-8E82-58D9-85D1-971EF7FA21FE}"/>
              </a:ext>
            </a:extLst>
          </p:cNvPr>
          <p:cNvCxnSpPr>
            <a:cxnSpLocks/>
            <a:stCxn id="73" idx="1"/>
          </p:cNvCxnSpPr>
          <p:nvPr/>
        </p:nvCxnSpPr>
        <p:spPr>
          <a:xfrm flipH="1">
            <a:off x="6824932" y="160853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A548A45-5676-BAB1-48B4-EDFE0F0461DE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6824932" y="186588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9C9FB075-4236-3AAA-91A9-22C55E1625B0}"/>
              </a:ext>
            </a:extLst>
          </p:cNvPr>
          <p:cNvSpPr txBox="1"/>
          <p:nvPr/>
        </p:nvSpPr>
        <p:spPr>
          <a:xfrm>
            <a:off x="7002852" y="1344798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1E3527-3D92-B3FF-250D-E13B924B6723}"/>
              </a:ext>
            </a:extLst>
          </p:cNvPr>
          <p:cNvSpPr txBox="1"/>
          <p:nvPr/>
        </p:nvSpPr>
        <p:spPr>
          <a:xfrm>
            <a:off x="7002852" y="188532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9" name="Action Button: Go Home 78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5BB2368-B75C-B8BD-EA8F-5B8D53CC28EF}"/>
              </a:ext>
            </a:extLst>
          </p:cNvPr>
          <p:cNvSpPr/>
          <p:nvPr/>
        </p:nvSpPr>
        <p:spPr>
          <a:xfrm>
            <a:off x="9138969" y="5041627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951441A-301E-88B4-681F-DC0DD1B972C8}"/>
              </a:ext>
            </a:extLst>
          </p:cNvPr>
          <p:cNvSpPr/>
          <p:nvPr/>
        </p:nvSpPr>
        <p:spPr>
          <a:xfrm>
            <a:off x="7868728" y="504162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2BFCF81-F2AA-9A20-E256-2EE9C53776BF}"/>
              </a:ext>
            </a:extLst>
          </p:cNvPr>
          <p:cNvSpPr/>
          <p:nvPr/>
        </p:nvSpPr>
        <p:spPr>
          <a:xfrm>
            <a:off x="7868728" y="529897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404770D8-B3BE-BA35-1016-A781B1E24D0C}"/>
              </a:ext>
            </a:extLst>
          </p:cNvPr>
          <p:cNvCxnSpPr>
            <a:cxnSpLocks/>
            <a:stCxn id="80" idx="1"/>
          </p:cNvCxnSpPr>
          <p:nvPr/>
        </p:nvCxnSpPr>
        <p:spPr>
          <a:xfrm flipH="1">
            <a:off x="6824932" y="514874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66A993C-74B5-E090-936B-5A000D4443F4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6824932" y="540609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C7BFF66B-A2F0-A58B-D916-B440B75AF367}"/>
              </a:ext>
            </a:extLst>
          </p:cNvPr>
          <p:cNvSpPr txBox="1"/>
          <p:nvPr/>
        </p:nvSpPr>
        <p:spPr>
          <a:xfrm>
            <a:off x="7002852" y="488500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02E27EA-5D1E-4E85-244D-720D5BB0521C}"/>
              </a:ext>
            </a:extLst>
          </p:cNvPr>
          <p:cNvSpPr txBox="1"/>
          <p:nvPr/>
        </p:nvSpPr>
        <p:spPr>
          <a:xfrm>
            <a:off x="7002852" y="5425524"/>
            <a:ext cx="796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6,4 kWh</a:t>
            </a:r>
          </a:p>
        </p:txBody>
      </p:sp>
      <p:sp>
        <p:nvSpPr>
          <p:cNvPr id="86" name="Action Button: Go Home 85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48A2817-56CB-9486-69EE-666E9C02B157}"/>
              </a:ext>
            </a:extLst>
          </p:cNvPr>
          <p:cNvSpPr/>
          <p:nvPr/>
        </p:nvSpPr>
        <p:spPr>
          <a:xfrm>
            <a:off x="9138969" y="3907686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1C71775-9BBE-1D1C-6688-37A17DB2B0B4}"/>
              </a:ext>
            </a:extLst>
          </p:cNvPr>
          <p:cNvSpPr/>
          <p:nvPr/>
        </p:nvSpPr>
        <p:spPr>
          <a:xfrm>
            <a:off x="7868728" y="3907686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D4FA893-2E0C-15E1-4AEF-3F29344B23FC}"/>
              </a:ext>
            </a:extLst>
          </p:cNvPr>
          <p:cNvSpPr/>
          <p:nvPr/>
        </p:nvSpPr>
        <p:spPr>
          <a:xfrm>
            <a:off x="7868728" y="4165036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68817E28-27F5-AE9D-BBF0-C19DC94656F7}"/>
              </a:ext>
            </a:extLst>
          </p:cNvPr>
          <p:cNvCxnSpPr>
            <a:cxnSpLocks/>
            <a:stCxn id="87" idx="1"/>
          </p:cNvCxnSpPr>
          <p:nvPr/>
        </p:nvCxnSpPr>
        <p:spPr>
          <a:xfrm flipH="1">
            <a:off x="6824932" y="401479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B4A9AA5C-1953-6714-2231-7ED5E2CABEC8}"/>
              </a:ext>
            </a:extLst>
          </p:cNvPr>
          <p:cNvCxnSpPr>
            <a:cxnSpLocks/>
            <a:endCxn id="88" idx="1"/>
          </p:cNvCxnSpPr>
          <p:nvPr/>
        </p:nvCxnSpPr>
        <p:spPr>
          <a:xfrm>
            <a:off x="6824932" y="427214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6B2446F3-61D7-7815-1E3D-D6661E650D2D}"/>
              </a:ext>
            </a:extLst>
          </p:cNvPr>
          <p:cNvSpPr txBox="1"/>
          <p:nvPr/>
        </p:nvSpPr>
        <p:spPr>
          <a:xfrm>
            <a:off x="7002852" y="3751060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2 kWh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17D571E-E155-BD09-7035-DDAD64967D69}"/>
              </a:ext>
            </a:extLst>
          </p:cNvPr>
          <p:cNvSpPr txBox="1"/>
          <p:nvPr/>
        </p:nvSpPr>
        <p:spPr>
          <a:xfrm>
            <a:off x="7002851" y="4291583"/>
            <a:ext cx="8191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3,73 kWh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0D44F2D-F049-7EA8-CB47-FBDDFCC73B0E}"/>
              </a:ext>
            </a:extLst>
          </p:cNvPr>
          <p:cNvSpPr txBox="1"/>
          <p:nvPr/>
        </p:nvSpPr>
        <p:spPr>
          <a:xfrm>
            <a:off x="9841300" y="1555236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389586-EFA2-565E-677B-B61F533A74E0}"/>
              </a:ext>
            </a:extLst>
          </p:cNvPr>
          <p:cNvSpPr txBox="1"/>
          <p:nvPr/>
        </p:nvSpPr>
        <p:spPr>
          <a:xfrm>
            <a:off x="9819016" y="2750669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FADA3E5-9928-450E-EF40-439BEF253C90}"/>
              </a:ext>
            </a:extLst>
          </p:cNvPr>
          <p:cNvSpPr txBox="1"/>
          <p:nvPr/>
        </p:nvSpPr>
        <p:spPr>
          <a:xfrm>
            <a:off x="9841300" y="3958090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F0CF3F8-EF42-680C-4E30-CD235BE30C26}"/>
              </a:ext>
            </a:extLst>
          </p:cNvPr>
          <p:cNvSpPr txBox="1"/>
          <p:nvPr/>
        </p:nvSpPr>
        <p:spPr>
          <a:xfrm>
            <a:off x="9841300" y="5074637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6D8DBA0E-EDEF-1FD5-63C4-77CDA4A1EA6C}"/>
                  </a:ext>
                </a:extLst>
              </p:cNvPr>
              <p:cNvSpPr txBox="1"/>
              <p:nvPr/>
            </p:nvSpPr>
            <p:spPr>
              <a:xfrm>
                <a:off x="386048" y="4121911"/>
                <a:ext cx="3320681" cy="25737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𝐺𝑒𝑠𝑎𝑚𝑡𝑙𝑎𝑠𝑡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=15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𝐸𝑟𝑧𝑒𝑢𝑔𝑢𝑛𝑔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=12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𝐸𝑟𝑧𝑒𝑢𝑔𝑢𝑛𝑔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𝐿𝑎𝑠𝑡</m:t>
                          </m:r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de-AT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sz="11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de-AT" sz="1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𝐺𝑒𝑠𝑎𝑚𝑡</m:t>
                          </m:r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𝑙𝑎𝑠𝑡</m:t>
                          </m:r>
                        </m:den>
                      </m:f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0 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(12 −6,4)∗</m:t>
                      </m:r>
                      <m:f>
                        <m:fPr>
                          <m:ctrlPr>
                            <a:rPr lang="de-AT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=1,87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(12 −6,4)∗</m:t>
                      </m:r>
                      <m:f>
                        <m:f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=3,73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6,4 </m:t>
                      </m:r>
                      <m:r>
                        <a:rPr lang="de-AT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</p:txBody>
          </p:sp>
        </mc:Choice>
        <mc:Fallback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6D8DBA0E-EDEF-1FD5-63C4-77CDA4A1E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048" y="4121911"/>
                <a:ext cx="3320681" cy="25737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703791CD-D563-1BEB-6DB6-C2D8DC31C768}"/>
              </a:ext>
            </a:extLst>
          </p:cNvPr>
          <p:cNvCxnSpPr>
            <a:stCxn id="79" idx="1"/>
            <a:endCxn id="41" idx="2"/>
          </p:cNvCxnSpPr>
          <p:nvPr/>
        </p:nvCxnSpPr>
        <p:spPr>
          <a:xfrm rot="5400000">
            <a:off x="7625856" y="3981912"/>
            <a:ext cx="311063" cy="3370773"/>
          </a:xfrm>
          <a:prstGeom prst="bentConnector3">
            <a:avLst>
              <a:gd name="adj1" fmla="val 17349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90470C1-7731-0B21-A48D-8B008CE3621C}"/>
              </a:ext>
            </a:extLst>
          </p:cNvPr>
          <p:cNvSpPr txBox="1"/>
          <p:nvPr/>
        </p:nvSpPr>
        <p:spPr>
          <a:xfrm>
            <a:off x="7002852" y="6050160"/>
            <a:ext cx="796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6,4 kWh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A22BB2-28C3-027E-DDC3-54F45C99808C}"/>
              </a:ext>
            </a:extLst>
          </p:cNvPr>
          <p:cNvSpPr txBox="1"/>
          <p:nvPr/>
        </p:nvSpPr>
        <p:spPr>
          <a:xfrm>
            <a:off x="7871605" y="6114536"/>
            <a:ext cx="293298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/>
              <a:t>M4 braucht nur 6,4 kWh und bekommt diese auch zugesprochen. M2 und M3 bekommen die restlichen Anteile von M4.</a:t>
            </a:r>
            <a:endParaRPr lang="de-AT" sz="11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02A806D-2C29-B351-4555-A593FC080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048" y="238666"/>
            <a:ext cx="9692640" cy="560062"/>
          </a:xfrm>
        </p:spPr>
        <p:txBody>
          <a:bodyPr>
            <a:normAutofit fontScale="90000"/>
          </a:bodyPr>
          <a:lstStyle/>
          <a:p>
            <a:r>
              <a:rPr lang="de-AT" sz="3600" dirty="0"/>
              <a:t>Aufteilung exkl. Flexibilität (2/2)</a:t>
            </a:r>
          </a:p>
        </p:txBody>
      </p:sp>
    </p:spTree>
    <p:extLst>
      <p:ext uri="{BB962C8B-B14F-4D97-AF65-F5344CB8AC3E}">
        <p14:creationId xmlns:p14="http://schemas.microsoft.com/office/powerpoint/2010/main" val="516834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35FD99-BAF3-106D-2FF9-20D83FC38DCC}"/>
              </a:ext>
            </a:extLst>
          </p:cNvPr>
          <p:cNvSpPr/>
          <p:nvPr/>
        </p:nvSpPr>
        <p:spPr>
          <a:xfrm>
            <a:off x="2865408" y="3209025"/>
            <a:ext cx="1457864" cy="4399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Erzeugung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2C2A86-B145-B24B-0092-3AE3DD65A56C}"/>
              </a:ext>
            </a:extLst>
          </p:cNvPr>
          <p:cNvSpPr/>
          <p:nvPr/>
        </p:nvSpPr>
        <p:spPr>
          <a:xfrm>
            <a:off x="5367068" y="1035170"/>
            <a:ext cx="1457864" cy="47876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Aufteilung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C2755BD-B438-B72F-C379-0AC356E3532C}"/>
              </a:ext>
            </a:extLst>
          </p:cNvPr>
          <p:cNvCxnSpPr>
            <a:cxnSpLocks/>
            <a:stCxn id="4" idx="3"/>
            <a:endCxn id="41" idx="1"/>
          </p:cNvCxnSpPr>
          <p:nvPr/>
        </p:nvCxnSpPr>
        <p:spPr>
          <a:xfrm>
            <a:off x="4323272" y="3428999"/>
            <a:ext cx="104379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9BD545F-1FA3-7133-C693-98E09353068D}"/>
              </a:ext>
            </a:extLst>
          </p:cNvPr>
          <p:cNvSpPr txBox="1"/>
          <p:nvPr/>
        </p:nvSpPr>
        <p:spPr>
          <a:xfrm>
            <a:off x="4501192" y="3198327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sp>
        <p:nvSpPr>
          <p:cNvPr id="72" name="Action Button: Go Home 7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644A587-C958-8C74-F397-857D995DDAF9}"/>
              </a:ext>
            </a:extLst>
          </p:cNvPr>
          <p:cNvSpPr/>
          <p:nvPr/>
        </p:nvSpPr>
        <p:spPr>
          <a:xfrm>
            <a:off x="9138969" y="1291874"/>
            <a:ext cx="655608" cy="728095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498A6CB-74C1-81A3-72FC-9F4FF0C9AAC4}"/>
              </a:ext>
            </a:extLst>
          </p:cNvPr>
          <p:cNvSpPr/>
          <p:nvPr/>
        </p:nvSpPr>
        <p:spPr>
          <a:xfrm>
            <a:off x="7868728" y="129187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9DD4034-E253-E8C3-224E-B41265103ABC}"/>
              </a:ext>
            </a:extLst>
          </p:cNvPr>
          <p:cNvSpPr/>
          <p:nvPr/>
        </p:nvSpPr>
        <p:spPr>
          <a:xfrm>
            <a:off x="7868728" y="154922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Flexibilität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F674E78-8E82-58D9-85D1-971EF7FA21FE}"/>
              </a:ext>
            </a:extLst>
          </p:cNvPr>
          <p:cNvCxnSpPr>
            <a:cxnSpLocks/>
            <a:stCxn id="73" idx="1"/>
          </p:cNvCxnSpPr>
          <p:nvPr/>
        </p:nvCxnSpPr>
        <p:spPr>
          <a:xfrm flipH="1">
            <a:off x="6824932" y="139898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A548A45-5676-BAB1-48B4-EDFE0F0461D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6824932" y="191285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9C9FB075-4236-3AAA-91A9-22C55E1625B0}"/>
              </a:ext>
            </a:extLst>
          </p:cNvPr>
          <p:cNvSpPr txBox="1"/>
          <p:nvPr/>
        </p:nvSpPr>
        <p:spPr>
          <a:xfrm>
            <a:off x="7002852" y="1189223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1E3527-3D92-B3FF-250D-E13B924B6723}"/>
              </a:ext>
            </a:extLst>
          </p:cNvPr>
          <p:cNvSpPr txBox="1"/>
          <p:nvPr/>
        </p:nvSpPr>
        <p:spPr>
          <a:xfrm>
            <a:off x="7002852" y="1880810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0D44F2D-F049-7EA8-CB47-FBDDFCC73B0E}"/>
              </a:ext>
            </a:extLst>
          </p:cNvPr>
          <p:cNvSpPr txBox="1"/>
          <p:nvPr/>
        </p:nvSpPr>
        <p:spPr>
          <a:xfrm>
            <a:off x="9841300" y="1471255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A492F9-BF65-4584-13C3-4EAC1DF4D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048" y="238666"/>
            <a:ext cx="9692640" cy="560062"/>
          </a:xfrm>
        </p:spPr>
        <p:txBody>
          <a:bodyPr>
            <a:normAutofit fontScale="90000"/>
          </a:bodyPr>
          <a:lstStyle/>
          <a:p>
            <a:r>
              <a:rPr lang="de-AT" sz="3600" dirty="0"/>
              <a:t>Aufteilung inkl. Flexibilität (1/4)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53D79F-0BA2-95F6-ED1F-4CBE3936F66B}"/>
              </a:ext>
            </a:extLst>
          </p:cNvPr>
          <p:cNvSpPr/>
          <p:nvPr/>
        </p:nvSpPr>
        <p:spPr>
          <a:xfrm>
            <a:off x="7868728" y="180574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468427C-77F3-EC0D-E8BF-F74BFE069495}"/>
              </a:ext>
            </a:extLst>
          </p:cNvPr>
          <p:cNvCxnSpPr>
            <a:cxnSpLocks/>
          </p:cNvCxnSpPr>
          <p:nvPr/>
        </p:nvCxnSpPr>
        <p:spPr>
          <a:xfrm flipH="1">
            <a:off x="6824932" y="165723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BA475B9-A96F-DDA4-CEE1-55579421F17A}"/>
              </a:ext>
            </a:extLst>
          </p:cNvPr>
          <p:cNvSpPr txBox="1"/>
          <p:nvPr/>
        </p:nvSpPr>
        <p:spPr>
          <a:xfrm>
            <a:off x="7002852" y="1441125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+1 kWh</a:t>
            </a:r>
          </a:p>
        </p:txBody>
      </p:sp>
      <p:sp>
        <p:nvSpPr>
          <p:cNvPr id="38" name="Action Button: Go Home 37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A0F1E23-455C-7F46-1780-5BB74F5E4E33}"/>
              </a:ext>
            </a:extLst>
          </p:cNvPr>
          <p:cNvSpPr/>
          <p:nvPr/>
        </p:nvSpPr>
        <p:spPr>
          <a:xfrm>
            <a:off x="9138969" y="2460397"/>
            <a:ext cx="655608" cy="728095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384134-2988-2BA0-ED9A-6BBCCED46F96}"/>
              </a:ext>
            </a:extLst>
          </p:cNvPr>
          <p:cNvSpPr/>
          <p:nvPr/>
        </p:nvSpPr>
        <p:spPr>
          <a:xfrm>
            <a:off x="7868728" y="246039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3D8C2A5-A55F-D173-16FC-9F56CCF6A52D}"/>
              </a:ext>
            </a:extLst>
          </p:cNvPr>
          <p:cNvSpPr/>
          <p:nvPr/>
        </p:nvSpPr>
        <p:spPr>
          <a:xfrm>
            <a:off x="7868728" y="271774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Flexibilität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DF1C857-E4CE-3A7F-63A5-ABE1506E86C4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6824932" y="256751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267B904-BB4C-3C14-2560-0B99F848BDCB}"/>
              </a:ext>
            </a:extLst>
          </p:cNvPr>
          <p:cNvCxnSpPr>
            <a:cxnSpLocks/>
            <a:endCxn id="50" idx="1"/>
          </p:cNvCxnSpPr>
          <p:nvPr/>
        </p:nvCxnSpPr>
        <p:spPr>
          <a:xfrm>
            <a:off x="6824932" y="308138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E0EB6694-5743-28EE-82C3-4B08518C8DE3}"/>
              </a:ext>
            </a:extLst>
          </p:cNvPr>
          <p:cNvSpPr txBox="1"/>
          <p:nvPr/>
        </p:nvSpPr>
        <p:spPr>
          <a:xfrm>
            <a:off x="7002852" y="2357746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 kWh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8FABB3-60DC-519B-FDEA-F9DDB154ACD5}"/>
              </a:ext>
            </a:extLst>
          </p:cNvPr>
          <p:cNvSpPr txBox="1"/>
          <p:nvPr/>
        </p:nvSpPr>
        <p:spPr>
          <a:xfrm>
            <a:off x="7002852" y="3049333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B295E6C-89B5-7022-369A-0409D6B10FBD}"/>
              </a:ext>
            </a:extLst>
          </p:cNvPr>
          <p:cNvSpPr txBox="1"/>
          <p:nvPr/>
        </p:nvSpPr>
        <p:spPr>
          <a:xfrm>
            <a:off x="9841300" y="2639778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M2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505814F-0747-03A3-B350-C4BCD1CD5A35}"/>
              </a:ext>
            </a:extLst>
          </p:cNvPr>
          <p:cNvSpPr/>
          <p:nvPr/>
        </p:nvSpPr>
        <p:spPr>
          <a:xfrm>
            <a:off x="7868728" y="297426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DF09299-815F-4382-8835-9FB2BC0B3086}"/>
              </a:ext>
            </a:extLst>
          </p:cNvPr>
          <p:cNvCxnSpPr>
            <a:cxnSpLocks/>
          </p:cNvCxnSpPr>
          <p:nvPr/>
        </p:nvCxnSpPr>
        <p:spPr>
          <a:xfrm flipH="1">
            <a:off x="6824932" y="2825762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B07859E-2285-ECB6-8164-71224D05BF7F}"/>
              </a:ext>
            </a:extLst>
          </p:cNvPr>
          <p:cNvSpPr txBox="1"/>
          <p:nvPr/>
        </p:nvSpPr>
        <p:spPr>
          <a:xfrm>
            <a:off x="7002852" y="2609648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+2 kWh</a:t>
            </a:r>
          </a:p>
        </p:txBody>
      </p:sp>
      <p:sp>
        <p:nvSpPr>
          <p:cNvPr id="54" name="Action Button: Go Home 5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209CBB8C-32B0-8385-43D0-C507269E63FC}"/>
              </a:ext>
            </a:extLst>
          </p:cNvPr>
          <p:cNvSpPr/>
          <p:nvPr/>
        </p:nvSpPr>
        <p:spPr>
          <a:xfrm>
            <a:off x="9138969" y="3628920"/>
            <a:ext cx="655608" cy="728095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0986E0A-8958-8D72-E0CD-55999BF1DD56}"/>
              </a:ext>
            </a:extLst>
          </p:cNvPr>
          <p:cNvSpPr/>
          <p:nvPr/>
        </p:nvSpPr>
        <p:spPr>
          <a:xfrm>
            <a:off x="7868728" y="3628920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8D9C96A-3124-BFE8-AF42-522ECEE0B434}"/>
              </a:ext>
            </a:extLst>
          </p:cNvPr>
          <p:cNvSpPr/>
          <p:nvPr/>
        </p:nvSpPr>
        <p:spPr>
          <a:xfrm>
            <a:off x="7868728" y="3886270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Flexibilität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A5E6219-4D63-229E-7824-F95DD42DD1AA}"/>
              </a:ext>
            </a:extLst>
          </p:cNvPr>
          <p:cNvCxnSpPr>
            <a:cxnSpLocks/>
            <a:stCxn id="56" idx="1"/>
          </p:cNvCxnSpPr>
          <p:nvPr/>
        </p:nvCxnSpPr>
        <p:spPr>
          <a:xfrm flipH="1">
            <a:off x="6824932" y="3736033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09B433A-EFEB-288D-4640-E4801AE7E0C4}"/>
              </a:ext>
            </a:extLst>
          </p:cNvPr>
          <p:cNvCxnSpPr>
            <a:cxnSpLocks/>
            <a:endCxn id="63" idx="1"/>
          </p:cNvCxnSpPr>
          <p:nvPr/>
        </p:nvCxnSpPr>
        <p:spPr>
          <a:xfrm>
            <a:off x="6824932" y="4249903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7B5A1C0-F2D2-2B91-AFE5-5F73B8B862B7}"/>
              </a:ext>
            </a:extLst>
          </p:cNvPr>
          <p:cNvSpPr txBox="1"/>
          <p:nvPr/>
        </p:nvSpPr>
        <p:spPr>
          <a:xfrm>
            <a:off x="7002852" y="3526269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2 kWh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610781-DCB8-FE77-E141-5EABBC5FA45D}"/>
              </a:ext>
            </a:extLst>
          </p:cNvPr>
          <p:cNvSpPr txBox="1"/>
          <p:nvPr/>
        </p:nvSpPr>
        <p:spPr>
          <a:xfrm>
            <a:off x="7002852" y="4217856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A1C9B9A-00AD-4C6B-CE2E-B86FA8CE5C95}"/>
              </a:ext>
            </a:extLst>
          </p:cNvPr>
          <p:cNvSpPr txBox="1"/>
          <p:nvPr/>
        </p:nvSpPr>
        <p:spPr>
          <a:xfrm>
            <a:off x="9841300" y="3808301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M3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2C278D0-A85A-2A8F-3CD8-78F284702920}"/>
              </a:ext>
            </a:extLst>
          </p:cNvPr>
          <p:cNvSpPr/>
          <p:nvPr/>
        </p:nvSpPr>
        <p:spPr>
          <a:xfrm>
            <a:off x="7868728" y="4142790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F4012D0-0B7F-2B1F-B4B6-7CD68BA92370}"/>
              </a:ext>
            </a:extLst>
          </p:cNvPr>
          <p:cNvCxnSpPr>
            <a:cxnSpLocks/>
          </p:cNvCxnSpPr>
          <p:nvPr/>
        </p:nvCxnSpPr>
        <p:spPr>
          <a:xfrm flipH="1">
            <a:off x="6824932" y="3994285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C9472CD2-0069-5A7B-87AF-CC9451383EFC}"/>
              </a:ext>
            </a:extLst>
          </p:cNvPr>
          <p:cNvSpPr txBox="1"/>
          <p:nvPr/>
        </p:nvSpPr>
        <p:spPr>
          <a:xfrm>
            <a:off x="7002852" y="377817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>
                <a:solidFill>
                  <a:srgbClr val="00B050"/>
                </a:solidFill>
              </a:rPr>
              <a:t>-1 kWh</a:t>
            </a:r>
          </a:p>
        </p:txBody>
      </p:sp>
      <p:sp>
        <p:nvSpPr>
          <p:cNvPr id="66" name="Action Button: Go Home 65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C3A9834A-007C-C130-EEF1-A729BDA3DAC4}"/>
              </a:ext>
            </a:extLst>
          </p:cNvPr>
          <p:cNvSpPr/>
          <p:nvPr/>
        </p:nvSpPr>
        <p:spPr>
          <a:xfrm>
            <a:off x="9138969" y="4797443"/>
            <a:ext cx="655608" cy="728095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E49936C-8B14-82EF-96B5-AB7AEA553997}"/>
              </a:ext>
            </a:extLst>
          </p:cNvPr>
          <p:cNvSpPr/>
          <p:nvPr/>
        </p:nvSpPr>
        <p:spPr>
          <a:xfrm>
            <a:off x="7868728" y="4797443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96EEFBD-0940-597B-F3C6-51B4F7FE79F8}"/>
              </a:ext>
            </a:extLst>
          </p:cNvPr>
          <p:cNvSpPr/>
          <p:nvPr/>
        </p:nvSpPr>
        <p:spPr>
          <a:xfrm>
            <a:off x="7868728" y="5054793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Flexibilität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E99931F6-4146-62A2-51D7-0CCB5EC87E41}"/>
              </a:ext>
            </a:extLst>
          </p:cNvPr>
          <p:cNvCxnSpPr>
            <a:cxnSpLocks/>
            <a:stCxn id="67" idx="1"/>
          </p:cNvCxnSpPr>
          <p:nvPr/>
        </p:nvCxnSpPr>
        <p:spPr>
          <a:xfrm flipH="1">
            <a:off x="6824932" y="4904556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5DACC7ED-6B21-A977-FE11-F3C2E64A3391}"/>
              </a:ext>
            </a:extLst>
          </p:cNvPr>
          <p:cNvCxnSpPr>
            <a:cxnSpLocks/>
            <a:endCxn id="101" idx="1"/>
          </p:cNvCxnSpPr>
          <p:nvPr/>
        </p:nvCxnSpPr>
        <p:spPr>
          <a:xfrm>
            <a:off x="6824932" y="5418426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E93C422F-6494-08F3-B97B-E77D6F890055}"/>
              </a:ext>
            </a:extLst>
          </p:cNvPr>
          <p:cNvSpPr txBox="1"/>
          <p:nvPr/>
        </p:nvSpPr>
        <p:spPr>
          <a:xfrm>
            <a:off x="7002852" y="4694792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29F4353-F627-7C8B-F6BB-AFD0A2C3C537}"/>
              </a:ext>
            </a:extLst>
          </p:cNvPr>
          <p:cNvSpPr txBox="1"/>
          <p:nvPr/>
        </p:nvSpPr>
        <p:spPr>
          <a:xfrm>
            <a:off x="7002852" y="5386379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AF32464-AC51-6695-3E31-025D017121CB}"/>
              </a:ext>
            </a:extLst>
          </p:cNvPr>
          <p:cNvSpPr txBox="1"/>
          <p:nvPr/>
        </p:nvSpPr>
        <p:spPr>
          <a:xfrm>
            <a:off x="9841300" y="4976824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1D5F357-14F0-ED66-6ECD-34DBF4341495}"/>
              </a:ext>
            </a:extLst>
          </p:cNvPr>
          <p:cNvSpPr/>
          <p:nvPr/>
        </p:nvSpPr>
        <p:spPr>
          <a:xfrm>
            <a:off x="7868728" y="5311313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C0616B9E-8D2C-6624-0F57-1FFBF5534B5F}"/>
              </a:ext>
            </a:extLst>
          </p:cNvPr>
          <p:cNvCxnSpPr>
            <a:cxnSpLocks/>
          </p:cNvCxnSpPr>
          <p:nvPr/>
        </p:nvCxnSpPr>
        <p:spPr>
          <a:xfrm flipH="1">
            <a:off x="6824932" y="516280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55D32FEE-3B54-EDD3-89CA-F1ACD73DB0BC}"/>
              </a:ext>
            </a:extLst>
          </p:cNvPr>
          <p:cNvSpPr txBox="1"/>
          <p:nvPr/>
        </p:nvSpPr>
        <p:spPr>
          <a:xfrm>
            <a:off x="7002852" y="4946694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>
                <a:solidFill>
                  <a:srgbClr val="00B050"/>
                </a:solidFill>
              </a:rPr>
              <a:t>-3 kWh</a:t>
            </a:r>
          </a:p>
        </p:txBody>
      </p:sp>
    </p:spTree>
    <p:extLst>
      <p:ext uri="{BB962C8B-B14F-4D97-AF65-F5344CB8AC3E}">
        <p14:creationId xmlns:p14="http://schemas.microsoft.com/office/powerpoint/2010/main" val="1940334753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0</TotalTime>
  <Words>423</Words>
  <Application>Microsoft Office PowerPoint</Application>
  <PresentationFormat>Widescreen</PresentationFormat>
  <Paragraphs>146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Cambria Math</vt:lpstr>
      <vt:lpstr>Century Schoolbook</vt:lpstr>
      <vt:lpstr>Wingdings 2</vt:lpstr>
      <vt:lpstr>View</vt:lpstr>
      <vt:lpstr>Thema Bachelorarbeit</vt:lpstr>
      <vt:lpstr>Komplexität des alten Themas</vt:lpstr>
      <vt:lpstr>Neues Thema</vt:lpstr>
      <vt:lpstr>Neues Thema</vt:lpstr>
      <vt:lpstr>Aufteilung exkl. Flexibilität (1/2)</vt:lpstr>
      <vt:lpstr>Aufteilung exkl. Flexibilität (2/2)</vt:lpstr>
      <vt:lpstr>Aufteilung inkl. Flexibilität (1/4)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Thema Bachelorarbeit</dc:title>
  <dc:creator>Tobias Fischer</dc:creator>
  <cp:lastModifiedBy>Tobias Fischer</cp:lastModifiedBy>
  <cp:revision>6</cp:revision>
  <dcterms:created xsi:type="dcterms:W3CDTF">2022-12-03T10:45:41Z</dcterms:created>
  <dcterms:modified xsi:type="dcterms:W3CDTF">2022-12-05T21:26:03Z</dcterms:modified>
</cp:coreProperties>
</file>